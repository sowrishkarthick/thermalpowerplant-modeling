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92" r:id="rId5"/>
    <p:sldId id="275" r:id="rId6"/>
    <p:sldId id="305" r:id="rId7"/>
    <p:sldId id="297" r:id="rId8"/>
    <p:sldId id="304" r:id="rId9"/>
    <p:sldId id="300" r:id="rId10"/>
    <p:sldId id="306" r:id="rId11"/>
    <p:sldId id="308" r:id="rId12"/>
    <p:sldId id="307" r:id="rId13"/>
    <p:sldId id="309" r:id="rId14"/>
    <p:sldId id="28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89" d="100"/>
          <a:sy n="89" d="100"/>
        </p:scale>
        <p:origin x="466" y="7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39" y="1162143"/>
            <a:ext cx="6517968" cy="2903534"/>
          </a:xfrm>
        </p:spPr>
        <p:txBody>
          <a:bodyPr/>
          <a:lstStyle/>
          <a:p>
            <a:r>
              <a:rPr lang="en-US" dirty="0"/>
              <a:t>Meta System Modelling:</a:t>
            </a:r>
            <a:br>
              <a:rPr lang="en-US" dirty="0"/>
            </a:br>
            <a:r>
              <a:rPr lang="en-US" dirty="0"/>
              <a:t> Thermal Power Plant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26595" y="3796851"/>
            <a:ext cx="5362612" cy="2416591"/>
          </a:xfrm>
        </p:spPr>
        <p:txBody>
          <a:bodyPr/>
          <a:lstStyle/>
          <a:p>
            <a:r>
              <a:rPr lang="en-US" b="1" dirty="0"/>
              <a:t>Presenter Name : </a:t>
            </a:r>
            <a:r>
              <a:rPr lang="en-US" dirty="0"/>
              <a:t>Sowrish Karthick S</a:t>
            </a:r>
          </a:p>
          <a:p>
            <a:r>
              <a:rPr lang="en-US" b="1" dirty="0"/>
              <a:t>Reg No : </a:t>
            </a:r>
            <a:r>
              <a:rPr lang="en-US" dirty="0"/>
              <a:t>22BEI0088</a:t>
            </a:r>
          </a:p>
          <a:p>
            <a:r>
              <a:rPr lang="en-US" b="1" dirty="0"/>
              <a:t>Faculty Guide : </a:t>
            </a:r>
            <a:r>
              <a:rPr lang="en-US" dirty="0"/>
              <a:t>Dr. Mahalakshmi P</a:t>
            </a:r>
          </a:p>
          <a:p>
            <a:r>
              <a:rPr lang="en-US" b="1" dirty="0"/>
              <a:t>Department / Course code: </a:t>
            </a:r>
            <a:r>
              <a:rPr lang="en-US" dirty="0"/>
              <a:t>BEEE497J Project – I</a:t>
            </a:r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17391" r="17391"/>
          <a:stretch/>
        </p:blipFill>
        <p:spPr>
          <a:xfrm>
            <a:off x="6931545" y="838985"/>
            <a:ext cx="4405503" cy="5066346"/>
          </a:xfrm>
        </p:spPr>
      </p:pic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542" y="3433313"/>
            <a:ext cx="4253399" cy="1740114"/>
          </a:xfrm>
        </p:spPr>
        <p:txBody>
          <a:bodyPr/>
          <a:lstStyle/>
          <a:p>
            <a:r>
              <a:rPr lang="en-US" altLang="zh-CN" dirty="0"/>
              <a:t>Agenda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21" name="Footer Placeholder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C794-8E58-742C-E46E-7E868C2E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3B3F6-7422-31B1-ADCE-CD62FFBA45F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604DEF-2A98-4497-D7A5-985CB6230FC9}"/>
              </a:ext>
            </a:extLst>
          </p:cNvPr>
          <p:cNvSpPr txBox="1"/>
          <p:nvPr/>
        </p:nvSpPr>
        <p:spPr>
          <a:xfrm>
            <a:off x="819509" y="1708030"/>
            <a:ext cx="10515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Meta-System Modeling and Simulation Framework instantiates a coal-fired generation asset as a canonical complex system, capturing fuel handling, thermal conversion, cooling, and water-treatment loops alongside stochastic outages drawn from `</a:t>
            </a:r>
            <a:r>
              <a:rPr lang="en-US" sz="2400" dirty="0" err="1"/>
              <a:t>src</a:t>
            </a:r>
            <a:r>
              <a:rPr lang="en-US" sz="2400" dirty="0"/>
              <a:t>/simulation_core.py`.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By </a:t>
            </a:r>
            <a:r>
              <a:rPr lang="en-US" sz="2400" dirty="0" err="1"/>
              <a:t>generalising</a:t>
            </a:r>
            <a:r>
              <a:rPr lang="en-US" sz="2400" dirty="0"/>
              <a:t> nuclear/thermal power plant dynamic modelling into a decision-support context, the platform couples first-order process physics, Monte Carlo reliability, and economic scoring so panel reviewers can evaluate operational trade-offs with real data artifacts.</a:t>
            </a:r>
          </a:p>
        </p:txBody>
      </p:sp>
    </p:spTree>
    <p:extLst>
      <p:ext uri="{BB962C8B-B14F-4D97-AF65-F5344CB8AC3E}">
        <p14:creationId xmlns:p14="http://schemas.microsoft.com/office/powerpoint/2010/main" val="223538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D48B-1E92-6507-565A-E2908B3A5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27" y="101634"/>
            <a:ext cx="10515600" cy="1115434"/>
          </a:xfrm>
        </p:spPr>
        <p:txBody>
          <a:bodyPr/>
          <a:lstStyle/>
          <a:p>
            <a:r>
              <a:rPr lang="en-IN" dirty="0"/>
              <a:t>Problem Statement and Objectives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4482E-720D-8A65-4C3E-46724718106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8E8B5E1-C637-8D1D-AB27-15DBBD9F9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39" y="1385828"/>
            <a:ext cx="1119416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Simulates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fuel–steam–turbine–condenser–water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dynamics with configurable parameters.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stochastic reliability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(MTBF/MTTR) to derive composite uptime and performance indices.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Computes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revenue, cost, and profit metrics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economic scenario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reproducible runs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through structured data exports and interactive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Plotly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dashboards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KPI and subsystem insights.</a:t>
            </a:r>
          </a:p>
        </p:txBody>
      </p:sp>
    </p:spTree>
    <p:extLst>
      <p:ext uri="{BB962C8B-B14F-4D97-AF65-F5344CB8AC3E}">
        <p14:creationId xmlns:p14="http://schemas.microsoft.com/office/powerpoint/2010/main" val="2824033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FCB64-36BF-A382-1C11-667D5FB8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403762"/>
            <a:ext cx="10515600" cy="1115434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D2B71-970B-6C80-2617-D5E5F5FBBE0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DEB5E8-F52D-C950-0281-8B31B78F4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65" y="1519196"/>
            <a:ext cx="10240928" cy="462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21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3E0EE-40C0-BFE1-DDB3-168A761DF0A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271607" y="1092812"/>
            <a:ext cx="6381154" cy="1506166"/>
          </a:xfrm>
        </p:spPr>
        <p:txBody>
          <a:bodyPr/>
          <a:lstStyle/>
          <a:p>
            <a:r>
              <a:rPr lang="en-US" sz="2400" b="1" dirty="0"/>
              <a:t>Simulation Engine:</a:t>
            </a:r>
            <a:r>
              <a:rPr lang="en-US" sz="2400" dirty="0"/>
              <a:t> Runs a system lifecycle combining dynamic demand patterns, reliability constraints, and Monte Carlo uncertainty to produce plant-level KPIs.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C5148-31B9-8C40-D6A0-AE192B15E49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241950" y="2984685"/>
            <a:ext cx="6381154" cy="1177789"/>
          </a:xfrm>
        </p:spPr>
        <p:txBody>
          <a:bodyPr/>
          <a:lstStyle/>
          <a:p>
            <a:r>
              <a:rPr lang="en-US" sz="2400" b="1" dirty="0"/>
              <a:t>Reliability &amp; Economics:</a:t>
            </a:r>
            <a:r>
              <a:rPr lang="en-US" sz="2400" dirty="0"/>
              <a:t> Quantifies uptime, performance degradation, energy generation, cost breakdowns, carbon penalties, and profitability metrics.</a:t>
            </a:r>
            <a:endParaRPr lang="en-IN" sz="2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00E21A-9646-4AA1-92D0-644ACA7A54B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457611" y="4790111"/>
            <a:ext cx="6584864" cy="1635938"/>
          </a:xfrm>
        </p:spPr>
        <p:txBody>
          <a:bodyPr/>
          <a:lstStyle/>
          <a:p>
            <a:r>
              <a:rPr lang="en-US" sz="2400" b="1" dirty="0"/>
              <a:t>Infrastructure &amp; Visualization:</a:t>
            </a:r>
            <a:r>
              <a:rPr lang="en-US" sz="2400" dirty="0"/>
              <a:t> Automated data storage, computation reuse, and visualization through stacked cost/revenue plots, subsystem dashboards, and executive summaries.</a:t>
            </a:r>
            <a:endParaRPr lang="en-IN" sz="24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E805D92-B439-5373-F4E3-958C77D1C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Progress So Far</a:t>
            </a:r>
          </a:p>
        </p:txBody>
      </p:sp>
      <p:pic>
        <p:nvPicPr>
          <p:cNvPr id="14" name="Picture Placeholder 13" descr="Arrow: Rotate right with solid fill">
            <a:extLst>
              <a:ext uri="{FF2B5EF4-FFF2-40B4-BE49-F238E27FC236}">
                <a16:creationId xmlns:a16="http://schemas.microsoft.com/office/drawing/2014/main" id="{FE31DACE-5107-53B7-06D0-6C6A5CAC5C5D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82" r="5182"/>
          <a:stretch>
            <a:fillRect/>
          </a:stretch>
        </p:blipFill>
        <p:spPr/>
      </p:pic>
      <p:pic>
        <p:nvPicPr>
          <p:cNvPr id="16" name="Picture Placeholder 15" descr="Arrow: Rotate right with solid fill">
            <a:extLst>
              <a:ext uri="{FF2B5EF4-FFF2-40B4-BE49-F238E27FC236}">
                <a16:creationId xmlns:a16="http://schemas.microsoft.com/office/drawing/2014/main" id="{021AD19E-B4F2-B6BA-4FB1-2CAF56C3FB2C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61" r="2661"/>
          <a:stretch>
            <a:fillRect/>
          </a:stretch>
        </p:blipFill>
        <p:spPr>
          <a:xfrm>
            <a:off x="4699047" y="2965890"/>
            <a:ext cx="536270" cy="565882"/>
          </a:xfrm>
        </p:spPr>
      </p:pic>
      <p:pic>
        <p:nvPicPr>
          <p:cNvPr id="18" name="Picture Placeholder 17" descr="Arrow: Rotate right with solid fill">
            <a:extLst>
              <a:ext uri="{FF2B5EF4-FFF2-40B4-BE49-F238E27FC236}">
                <a16:creationId xmlns:a16="http://schemas.microsoft.com/office/drawing/2014/main" id="{015739E3-DFE0-5B43-5FC5-04CA68A76C8B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28" r="2528"/>
          <a:stretch>
            <a:fillRect/>
          </a:stretch>
        </p:blipFill>
        <p:spPr>
          <a:xfrm>
            <a:off x="4734172" y="4790111"/>
            <a:ext cx="536270" cy="565882"/>
          </a:xfr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4AAEBBF-97CB-1519-5BA9-D6126051726F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59831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0C463B1-CE98-FA53-3C03-A068344E5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Discussion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34B2281-3DEE-8364-B9F7-7464766693B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E2D3281-360D-7243-A896-5123EF81F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454" y="1566613"/>
            <a:ext cx="1062897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Simulated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10,950 days (30 years)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with total export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120.55 TWh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83.4% capacity factor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, consuming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49.67 Mt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of coal.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Generated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8.78 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in revenue vs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11.29 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in costs, resulting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–2.51 B net profit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(–28.6% margin) under present carbon and O&amp;M assumptions.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Achieved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95.46% uptime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11,942 h downtime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MTBF = 73.1 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MTTR = 3.5 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97.0% reliability index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across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3,432 outages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Monte Carlo results confirm stable availability (uptime 95.36 ± 0.10%) and downtime (12,195 ± 272 h); dashboard visualizes KPIs, costs, reliability gauges, and 12-subsystem trends for quick insights.</a:t>
            </a:r>
          </a:p>
        </p:txBody>
      </p:sp>
    </p:spTree>
    <p:extLst>
      <p:ext uri="{BB962C8B-B14F-4D97-AF65-F5344CB8AC3E}">
        <p14:creationId xmlns:p14="http://schemas.microsoft.com/office/powerpoint/2010/main" val="3533740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2680-D1FF-5452-9247-5AEBBDE27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 Pending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64B63-37EC-1045-9B15-02D81925843C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48566-7C6B-1446-0E8F-5CF4869D36F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8D519-0088-6893-137C-E7684129B5B9}"/>
              </a:ext>
            </a:extLst>
          </p:cNvPr>
          <p:cNvSpPr txBox="1"/>
          <p:nvPr/>
        </p:nvSpPr>
        <p:spPr>
          <a:xfrm>
            <a:off x="1236102" y="1880558"/>
            <a:ext cx="184731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C1F6514-3125-21FB-75C4-BA5DEFED7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143" y="1622510"/>
            <a:ext cx="1041097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Upgrade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persistence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Parquet or database formats for scalable analytics and future model training.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Refine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subsystem-level reliability modeling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propagate partial performance effects through Monte Carlo runs.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phase: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validate the framework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ML models on generated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faster simulation and forward performance projection.</a:t>
            </a:r>
          </a:p>
        </p:txBody>
      </p:sp>
    </p:spTree>
    <p:extLst>
      <p:ext uri="{BB962C8B-B14F-4D97-AF65-F5344CB8AC3E}">
        <p14:creationId xmlns:p14="http://schemas.microsoft.com/office/powerpoint/2010/main" val="1246718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4B0D-D534-D742-07E0-51458E27F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5A7B9-D268-294D-0787-0A92086ADE8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32DEA-D174-2486-72FE-1871805E75D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5FE9BE88-0575-1B11-F365-2B1CAB5EF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9" y="1707603"/>
            <a:ext cx="1095314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framework unifies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dynamics, stochastic reliability, economics, and visualization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a reusable template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meta-system decision analysis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long-horizon simulations completed and visualized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it is now positioned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 exploration, validation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integration of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ML-driven control and sustainability extensions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3360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71DF-E105-621C-AE20-D3292E9A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BEA19-4776-3A95-A31D-E0D40460C65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44340FA-F180-8217-A807-6ECA6B500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07" y="1541398"/>
            <a:ext cx="11490385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Hansson, N., &amp; Persson, S.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Stochastic Optimization of Asset Management Project Portfolios: A Risk-Informed Approach.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NumPy Developers.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NumPy: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Numerical array computation and integration framework used throughout simulation modules.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pandas Development Team.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pandas: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Tabular data management library for results archiving and dashboard ingestion.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Plotly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Technologies Inc.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Plotly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Graph Objects: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Visualization library for KPI and subsystem analytics.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Plotly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Technologies Inc.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Dash: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Interactive dashboard framework for visualization and control interfaces.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203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Sowrish Karthick S</a:t>
            </a:r>
          </a:p>
          <a:p>
            <a:r>
              <a:rPr lang="en-US" dirty="0"/>
              <a:t>22BEI0088</a:t>
            </a:r>
          </a:p>
        </p:txBody>
      </p:sp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2323</TotalTime>
  <Words>605</Words>
  <Application>Microsoft Office PowerPoint</Application>
  <PresentationFormat>Widescreen</PresentationFormat>
  <Paragraphs>76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等线</vt:lpstr>
      <vt:lpstr>Abadi</vt:lpstr>
      <vt:lpstr>Arial</vt:lpstr>
      <vt:lpstr>Calibri</vt:lpstr>
      <vt:lpstr>Posterama</vt:lpstr>
      <vt:lpstr>Posterama Text Black</vt:lpstr>
      <vt:lpstr>Posterama Text SemiBold</vt:lpstr>
      <vt:lpstr>Times New Roman</vt:lpstr>
      <vt:lpstr>Custom​​</vt:lpstr>
      <vt:lpstr>Meta System Modelling:  Thermal Power Plant</vt:lpstr>
      <vt:lpstr>Agenda</vt:lpstr>
      <vt:lpstr>Introduction</vt:lpstr>
      <vt:lpstr>Problem Statement and Objectives</vt:lpstr>
      <vt:lpstr>Methodology</vt:lpstr>
      <vt:lpstr>Progress So Far</vt:lpstr>
      <vt:lpstr>Results and Discussion</vt:lpstr>
      <vt:lpstr>Work Pending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Sowrish Karthick S</dc:creator>
  <cp:lastModifiedBy>Sowrish Karthick S</cp:lastModifiedBy>
  <cp:revision>8</cp:revision>
  <dcterms:created xsi:type="dcterms:W3CDTF">2025-09-02T07:19:18Z</dcterms:created>
  <dcterms:modified xsi:type="dcterms:W3CDTF">2025-11-08T06:02:05Z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